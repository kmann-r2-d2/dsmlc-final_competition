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7" r:id="rId2"/>
    <p:sldId id="258" r:id="rId3"/>
    <p:sldId id="260" r:id="rId4"/>
    <p:sldId id="259" r:id="rId5"/>
    <p:sldId id="261" r:id="rId6"/>
    <p:sldId id="262" r:id="rId7"/>
    <p:sldId id="263" r:id="rId8"/>
    <p:sldId id="264" r:id="rId9"/>
    <p:sldId id="265" r:id="rId10"/>
    <p:sldId id="266"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39"/>
    <p:restoredTop sz="75336"/>
  </p:normalViewPr>
  <p:slideViewPr>
    <p:cSldViewPr snapToGrid="0">
      <p:cViewPr>
        <p:scale>
          <a:sx n="114" d="100"/>
          <a:sy n="114" d="100"/>
        </p:scale>
        <p:origin x="664" y="-1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923DCE-44FC-3641-A6D7-2831711E8CD8}" type="datetimeFigureOut">
              <a:rPr lang="en-US" smtClean="0"/>
              <a:t>3/21/26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F11FA1-356F-7744-81D3-33170676CE5B}" type="slidenum">
              <a:rPr lang="en-US" smtClean="0"/>
              <a:t>‹#›</a:t>
            </a:fld>
            <a:endParaRPr lang="en-US"/>
          </a:p>
        </p:txBody>
      </p:sp>
    </p:spTree>
    <p:extLst>
      <p:ext uri="{BB962C8B-B14F-4D97-AF65-F5344CB8AC3E}">
        <p14:creationId xmlns:p14="http://schemas.microsoft.com/office/powerpoint/2010/main" val="808636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the most subtle but most insightful chart. It shows how the relationships between sensors </a:t>
            </a:r>
            <a:r>
              <a:rPr lang="en-CA" i="1" dirty="0"/>
              <a:t>change</a:t>
            </a:r>
            <a:r>
              <a:rPr lang="en-CA" dirty="0"/>
              <a:t> when going from a healthy turbine to a failing one. All the values are negative (shown in blue), meaning sensors become </a:t>
            </a:r>
            <a:r>
              <a:rPr lang="en-CA" i="1" dirty="0"/>
              <a:t>less</a:t>
            </a:r>
            <a:r>
              <a:rPr lang="en-CA" dirty="0"/>
              <a:t> correlated during a fault. The strongest change is between the gearbox sensors and the generator bearing sensors — dropping by 0.15 to 0.16. In plain terms: during normal operation these components move in sync, but as the gearbox deteriorates, it starts behaving independently from the rest of the drivetrain. This decoupling is itself a fault signature — and could be used as an additional alert trigger beyond just temperature thresholds."</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1</a:t>
            </a:fld>
            <a:endParaRPr lang="en-US"/>
          </a:p>
        </p:txBody>
      </p:sp>
    </p:spTree>
    <p:extLst>
      <p:ext uri="{BB962C8B-B14F-4D97-AF65-F5344CB8AC3E}">
        <p14:creationId xmlns:p14="http://schemas.microsoft.com/office/powerpoint/2010/main" val="703546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"This chart shows how strongly different sensors move together. A score of 1.0 means two sensors are perfectly in sync; 0.0 means they're completely independent. The gearbox bearing and gearbox oil temperatures are 0.96 correlated — almost perfectly linked, which makes physical sense since the oil lubricates the bearing. More interestingly, the gearbox sensors also show 0.72 and 0.77 correlation with the generator bearings. This tells us that when the gearbox starts running hot, the heat propagates to the generator — meaning a single gearbox alert should also trigger inspection of the generator bearings."</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2</a:t>
            </a:fld>
            <a:endParaRPr lang="en-US"/>
          </a:p>
        </p:txBody>
      </p:sp>
    </p:spTree>
    <p:extLst>
      <p:ext uri="{BB962C8B-B14F-4D97-AF65-F5344CB8AC3E}">
        <p14:creationId xmlns:p14="http://schemas.microsoft.com/office/powerpoint/2010/main" val="1476573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our early warning system in action. The dashed red horizontal line is our alert threshold — set at 53.2°C, calculated from the turbine's own first 30 days of normal operation. The solid red vertical line is the moment our system would have sent an alert. The dashed black line is when the gearbox actually failed. The shaded pink region is the warning period in between. Our method detected the developing fault </a:t>
            </a:r>
            <a:r>
              <a:rPr lang="en-CA" b="1" dirty="0"/>
              <a:t>53 days before failure</a:t>
            </a:r>
            <a:r>
              <a:rPr lang="en-CA" dirty="0"/>
              <a:t> — giving operators nearly two months to schedule maintenance, order parts, and avoid an unplanned emergency shutdown that could cost tens of thousands of dollars in lost energy and repair costs."</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3</a:t>
            </a:fld>
            <a:endParaRPr lang="en-US"/>
          </a:p>
        </p:txBody>
      </p:sp>
    </p:spTree>
    <p:extLst>
      <p:ext uri="{BB962C8B-B14F-4D97-AF65-F5344CB8AC3E}">
        <p14:creationId xmlns:p14="http://schemas.microsoft.com/office/powerpoint/2010/main" val="32750229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"Raw sensor data is extremely noisy — it spikes up and down every few hours with normal operation cycles. To see the underlying trend, we apply a 7-day rolling average, which smooths out daily fluctuations and reveals the slow drift over time. You can see in the top panel (gearbox oil) that the rolling mean gradually creeps upward in the weeks before the fault window. This is the thermal signature of a gearbox under increasing mechanical stress — like how a car engine runs hotter when something is wrong. This slow drift is invisible in raw data but clear once smoothed."</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4</a:t>
            </a:fld>
            <a:endParaRPr lang="en-US"/>
          </a:p>
        </p:txBody>
      </p:sp>
    </p:spTree>
    <p:extLst>
      <p:ext uri="{BB962C8B-B14F-4D97-AF65-F5344CB8AC3E}">
        <p14:creationId xmlns:p14="http://schemas.microsoft.com/office/powerpoint/2010/main" val="10623712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"Here we compare a healthy turbine (blue, left column) against the turbine that later failed (red, right column). The gearbox bearing temperature on top and the gearbox oil temperature on the bottom both look visually similar at first glance — but look at the red charts: they dip much lower at times, reaching 25°C, which indicates the turbine was shutting down repeatedly in the months before failure. A healthy turbine doesn't do that nearly as often. These unexpected shutdowns are an early warning sign that something was wrong long before the official fault was logged."</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5</a:t>
            </a:fld>
            <a:endParaRPr lang="en-US"/>
          </a:p>
        </p:txBody>
      </p:sp>
    </p:spTree>
    <p:extLst>
      <p:ext uri="{BB962C8B-B14F-4D97-AF65-F5344CB8AC3E}">
        <p14:creationId xmlns:p14="http://schemas.microsoft.com/office/powerpoint/2010/main" val="17371116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chart shows 5 different temperature sensors inside a wind turbine over roughly one year of operation, recorded every 10 minutes. The dashed vertical line marks when the gearbox officially failed. Two things stand out: the generator bearing sensors (green and orange) show a massive spike early on — reaching over 200°C — which likely indicates a separate earlier stress event. The ambient temperature at the bottom follows a natural seasonal pattern, rising in summer and falling in winter, which confirms the data is real-world and unaltered. This overview gives us the full picture before we zoom in."</a:t>
            </a:r>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6</a:t>
            </a:fld>
            <a:endParaRPr lang="en-US"/>
          </a:p>
        </p:txBody>
      </p:sp>
    </p:spTree>
    <p:extLst>
      <p:ext uri="{BB962C8B-B14F-4D97-AF65-F5344CB8AC3E}">
        <p14:creationId xmlns:p14="http://schemas.microsoft.com/office/powerpoint/2010/main" val="30674779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7</a:t>
            </a:fld>
            <a:endParaRPr lang="en-US"/>
          </a:p>
        </p:txBody>
      </p:sp>
    </p:spTree>
    <p:extLst>
      <p:ext uri="{BB962C8B-B14F-4D97-AF65-F5344CB8AC3E}">
        <p14:creationId xmlns:p14="http://schemas.microsoft.com/office/powerpoint/2010/main" val="3589695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CA" dirty="0"/>
              <a:t>CROSS TURBINE DRIFT COMPARISON</a:t>
            </a:r>
            <a:br>
              <a:rPr lang="en-CA" dirty="0"/>
            </a:br>
            <a:r>
              <a:rPr lang="en-CA" dirty="0"/>
              <a:t>"This chart stacks the same analysis across all three gearbox fault events recorded in Farm A, each from a different turbine. The colored line is the 7-day rolling average temperature, the dashed red horizontal line is each turbine's personalized alert threshold, and the dashed black vertical line marks when the fault was officially recorded.</a:t>
            </a:r>
          </a:p>
          <a:p>
            <a:r>
              <a:rPr lang="en-CA" dirty="0"/>
              <a:t>Three things stand out. First, Turbine 21 (Event 72, top) shows a clean 53-day warning — the rolling mean crosses the threshold shortly before the fault, exactly what a good early warning system should do. Second, Turbine 10 (Event 10, middle) never crosses its threshold at all before the fault — the rolling mean stays below 54.7°C right up until failure. This tells us gearbox oil temperature alone isn't a universal signal for every turbine. Third, Turbine 21's second event (Event 51, bottom) triggers 198 days early, which is again too broad. Together these three panels make a crucial point: </a:t>
            </a:r>
            <a:r>
              <a:rPr lang="en-CA" b="1" dirty="0"/>
              <a:t>no single threshold works the same way across turbines</a:t>
            </a:r>
            <a:r>
              <a:rPr lang="en-CA" dirty="0"/>
              <a:t>, which is exactly why per-turbine baselines are essential for a reliable fleet-wide monitoring system."</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8</a:t>
            </a:fld>
            <a:endParaRPr lang="en-US"/>
          </a:p>
        </p:txBody>
      </p:sp>
    </p:spTree>
    <p:extLst>
      <p:ext uri="{BB962C8B-B14F-4D97-AF65-F5344CB8AC3E}">
        <p14:creationId xmlns:p14="http://schemas.microsoft.com/office/powerpoint/2010/main" val="12168777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CA" dirty="0"/>
              <a:t>Temperature Distribution Comparison</a:t>
            </a:r>
          </a:p>
          <a:p>
            <a:pPr>
              <a:buNone/>
            </a:pPr>
            <a:r>
              <a:rPr lang="en-CA" dirty="0"/>
              <a:t>"The left chart shows box plots — think of each box as representing where the middle 50% of temperature readings fall for that event. The line inside each box is the median. The dots below are extreme outlier readings, typically from turbine shutdowns. What's notable here is that the blue (normal) and red (pre-fault) boxes overlap heavily — their medians and spreads are very similar. This tells us that looking at raw temperature alone, it's hard to separate healthy from failing turbines using a simple cutoff.</a:t>
            </a:r>
          </a:p>
          <a:p>
            <a:r>
              <a:rPr lang="en-CA" dirty="0"/>
              <a:t>The right chart confirms this — the overall temperature distributions of normal events (blue) and pre-fault events (red) are almost completely overlapping, with means only 2.5°C apart (47.4°C normal vs. 46.9°C pre-fault). This is a really important honest finding: </a:t>
            </a:r>
            <a:r>
              <a:rPr lang="en-CA" b="1" dirty="0"/>
              <a:t>the fault signal isn't in the average temperature level — it's in the trend over time</a:t>
            </a:r>
            <a:r>
              <a:rPr lang="en-CA" dirty="0"/>
              <a:t>. This is exactly why the 7-day rolling mean drift approach is necessary rather than just setting a fixed temperature alarm."</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9</a:t>
            </a:fld>
            <a:endParaRPr lang="en-US"/>
          </a:p>
        </p:txBody>
      </p:sp>
    </p:spTree>
    <p:extLst>
      <p:ext uri="{BB962C8B-B14F-4D97-AF65-F5344CB8AC3E}">
        <p14:creationId xmlns:p14="http://schemas.microsoft.com/office/powerpoint/2010/main" val="20080124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CA" dirty="0"/>
              <a:t>Threshold Sensitivity Analysis</a:t>
            </a:r>
            <a:br>
              <a:rPr lang="en-CA" dirty="0"/>
            </a:br>
            <a:r>
              <a:rPr lang="en-CA" dirty="0"/>
              <a:t>"This chart shows the </a:t>
            </a:r>
            <a:r>
              <a:rPr lang="en-CA" dirty="0" err="1"/>
              <a:t>tradeoff</a:t>
            </a:r>
            <a:r>
              <a:rPr lang="en-CA" dirty="0"/>
              <a:t> every engineer faces when designing an alarm system: set the threshold too low and you get lots of false alarms that waste maintenance resources; set it too high and you miss real faults until it's too late.</a:t>
            </a:r>
          </a:p>
          <a:p>
            <a:pPr>
              <a:buNone/>
            </a:pPr>
            <a:r>
              <a:rPr lang="en-CA" dirty="0"/>
              <a:t>Each of the three panels represents one turbine. The blue bars show how many days of early warning you'd get at each threshold multiplier. The red line shows what percentage of normal operating timesteps would incorrectly trigger an alarm — the false positive rate.</a:t>
            </a:r>
          </a:p>
          <a:p>
            <a:pPr>
              <a:buNone/>
            </a:pPr>
            <a:r>
              <a:rPr lang="en-CA" dirty="0"/>
              <a:t>For Turbine 21 Event 72 (left): at a multiplier of 1.5, you get 304 days of warning but 30% of all readings are flagged as anomalies — far too noisy to be useful. At 2.3, you get a clean 53 days of warning with near-zero false positives — a much better operational balance.</a:t>
            </a:r>
          </a:p>
          <a:p>
            <a:pPr>
              <a:buNone/>
            </a:pPr>
            <a:r>
              <a:rPr lang="en-CA" dirty="0"/>
              <a:t>For Turbine 10 (middle): the threshold is never breached cleanly — even at 1.5 the false positive rate drops to near zero quickly, meaning this turbine's oil temperature simply didn't drift enough before failure to be detectable this way.</a:t>
            </a:r>
          </a:p>
          <a:p>
            <a:pPr>
              <a:buNone/>
            </a:pPr>
            <a:r>
              <a:rPr lang="en-CA" dirty="0"/>
              <a:t>For Turbine 21 Event 51 (right): 2.3 gives around 198 days of warning with about 5% false positives — acceptable but still broad.</a:t>
            </a:r>
          </a:p>
          <a:p>
            <a:r>
              <a:rPr lang="en-CA" dirty="0"/>
              <a:t>The key takeaway is that </a:t>
            </a:r>
            <a:r>
              <a:rPr lang="en-CA" b="1" dirty="0"/>
              <a:t>2.3 standard deviations is the sweet spot across these turbines</a:t>
            </a:r>
            <a:r>
              <a:rPr lang="en-CA" dirty="0"/>
              <a:t> — it balances early detection with operational reliability, and our recommendation is to use this as the standard multiplier with per-turbine baselines."</a:t>
            </a:r>
          </a:p>
          <a:p>
            <a:endParaRPr lang="en-US" dirty="0"/>
          </a:p>
        </p:txBody>
      </p:sp>
      <p:sp>
        <p:nvSpPr>
          <p:cNvPr id="4" name="Slide Number Placeholder 3"/>
          <p:cNvSpPr>
            <a:spLocks noGrp="1"/>
          </p:cNvSpPr>
          <p:nvPr>
            <p:ph type="sldNum" sz="quarter" idx="5"/>
          </p:nvPr>
        </p:nvSpPr>
        <p:spPr/>
        <p:txBody>
          <a:bodyPr/>
          <a:lstStyle/>
          <a:p>
            <a:fld id="{AAF11FA1-356F-7744-81D3-33170676CE5B}" type="slidenum">
              <a:rPr lang="en-US" smtClean="0"/>
              <a:t>10</a:t>
            </a:fld>
            <a:endParaRPr lang="en-US"/>
          </a:p>
        </p:txBody>
      </p:sp>
    </p:spTree>
    <p:extLst>
      <p:ext uri="{BB962C8B-B14F-4D97-AF65-F5344CB8AC3E}">
        <p14:creationId xmlns:p14="http://schemas.microsoft.com/office/powerpoint/2010/main" val="4315164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9C87F-1221-068B-D248-28D515C80A1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88C190-EC32-079F-9722-EEA0CCC1A9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E72EC7-44DF-CF57-468F-4AC3CA1FEDD7}"/>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C074D7F5-2C5B-F468-033C-E38DCFA893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B62943-C0E0-B299-4D1E-7E2D0BDDCC04}"/>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444231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C64F9-1FA2-F550-5897-55ABA9FB35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5A89AB-A7A8-BBD1-77D9-6EB7F839225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80C1CC-17B5-467D-CCF4-0FB2EE5E6297}"/>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05197579-F70D-4344-3735-622F980BB9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32910E-8743-6532-047B-D7E8F18763B9}"/>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417797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5AD14-A457-AEA7-487B-46EBC4BDA4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E3A42CB-3738-D30D-AB42-1C20F81D39E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809E15-724B-5D3A-1827-B61B0B0F18BD}"/>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3103C207-9613-9F04-5EF1-1AE21AA63A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E35E2-26BB-C761-F148-D0E2AF41DFFA}"/>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16708202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7FE9D-F3E1-7082-1CC9-D0C7E0C34F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82573D-6F46-B397-0A96-41227EAAD4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7B6FC7-31EE-9CCA-4649-BE09E2D411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E0349E-AEDF-9AE6-B51D-6DF73D7A2274}"/>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6" name="Footer Placeholder 5">
            <a:extLst>
              <a:ext uri="{FF2B5EF4-FFF2-40B4-BE49-F238E27FC236}">
                <a16:creationId xmlns:a16="http://schemas.microsoft.com/office/drawing/2014/main" id="{BCC73398-1D20-A34E-A3C5-EF5288078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B49E4F-5F35-0E45-892B-F716B6FD2EE5}"/>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6395369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6D85F-CEB1-0CED-B05F-2623BA681D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6756F2-C143-C912-1C08-FA1A4E5325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B90F0A-B9F0-3419-0AC3-31F8EEC1378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1E33D2-4F19-653F-7D2E-C9DCBD5097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409970-8DE3-DDA2-8D2C-4252F3D57B1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B8ABF20-A61E-C288-8A38-E3D032A90BFD}"/>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8" name="Footer Placeholder 7">
            <a:extLst>
              <a:ext uri="{FF2B5EF4-FFF2-40B4-BE49-F238E27FC236}">
                <a16:creationId xmlns:a16="http://schemas.microsoft.com/office/drawing/2014/main" id="{072854CF-D776-6572-18F5-05F7A096D15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453C3B-4F6D-FA8A-E723-B838BF97A4B2}"/>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423218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D5B6F-060F-7B59-E0E2-84DD27AA631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CDFF62F-9C5C-7F65-F20A-70DC5A06BFC5}"/>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4" name="Footer Placeholder 3">
            <a:extLst>
              <a:ext uri="{FF2B5EF4-FFF2-40B4-BE49-F238E27FC236}">
                <a16:creationId xmlns:a16="http://schemas.microsoft.com/office/drawing/2014/main" id="{2659819C-B436-4943-7279-6CC7B89DD83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3F410D-7B54-C6A8-5930-738E9C8FCD36}"/>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16930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2858CB0-56B4-B7B0-6024-A6D8104F1707}"/>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3" name="Footer Placeholder 2">
            <a:extLst>
              <a:ext uri="{FF2B5EF4-FFF2-40B4-BE49-F238E27FC236}">
                <a16:creationId xmlns:a16="http://schemas.microsoft.com/office/drawing/2014/main" id="{12C0F7A4-F76B-B7F1-B625-062BC8205B3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FA94A6-E7D2-D007-D4E5-39C6CA0410FF}"/>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1820540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48F71-15DC-AD94-47FF-06AA1C5C0C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DE7BF72-4717-2883-4D03-A28F42A862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756B23-240E-24DB-4CE8-183EC5C5BD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8D2391-A26B-D0E9-26EC-2D804583925C}"/>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6" name="Footer Placeholder 5">
            <a:extLst>
              <a:ext uri="{FF2B5EF4-FFF2-40B4-BE49-F238E27FC236}">
                <a16:creationId xmlns:a16="http://schemas.microsoft.com/office/drawing/2014/main" id="{604113C3-9DE4-8D39-9EF6-BEE90C0437E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885ADE-254D-F5C6-3B65-F50F7DA1CE08}"/>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5527685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EA057-1991-D9C2-CCFB-43D1AB56FF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E42C04-C7B2-6B7F-90C8-27077B3F014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EFD02CC-8D36-ACDD-485C-793EE85B63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F1F8B0-F876-5BF9-F7EC-A829844FBBD5}"/>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6" name="Footer Placeholder 5">
            <a:extLst>
              <a:ext uri="{FF2B5EF4-FFF2-40B4-BE49-F238E27FC236}">
                <a16:creationId xmlns:a16="http://schemas.microsoft.com/office/drawing/2014/main" id="{2AF3590D-6A44-DD23-9727-5CF9A31AE1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23220-CCAE-49DC-4612-6C46379E8DBB}"/>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4069941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B0B74-E447-5FEF-3571-48CC108C18F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0BDFCA4-7A6F-E166-4D8E-3265D66AC78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DFCD29-DB29-679B-BFFB-E6BD8DE3F7F4}"/>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22BCE5E8-92AB-9111-CE27-9AED0C2CF9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C37472-E1F0-4879-C8F6-0DC4571F0735}"/>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693538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7A94AC-8F78-2658-049C-F7B30CF9ADF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FBD2BA5-131F-C997-9086-BC30436902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2DC160-40C4-B3CD-43A6-1F1AD52258C6}"/>
              </a:ext>
            </a:extLst>
          </p:cNvPr>
          <p:cNvSpPr>
            <a:spLocks noGrp="1"/>
          </p:cNvSpPr>
          <p:nvPr>
            <p:ph type="dt" sz="half" idx="10"/>
          </p:nvPr>
        </p:nvSpPr>
        <p:spPr/>
        <p:txBody>
          <a:body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70DE523D-0314-8329-1C5A-8541799116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59E8A0-77AD-9146-38FB-D08D6D170378}"/>
              </a:ext>
            </a:extLst>
          </p:cNvPr>
          <p:cNvSpPr>
            <a:spLocks noGrp="1"/>
          </p:cNvSpPr>
          <p:nvPr>
            <p:ph type="sldNum" sz="quarter" idx="12"/>
          </p:nvPr>
        </p:nvSpPr>
        <p:spPr/>
        <p:txBody>
          <a:bodyPr/>
          <a:lstStyle/>
          <a:p>
            <a:fld id="{F473094F-1246-CC42-8A83-F4C6FF3F8758}" type="slidenum">
              <a:rPr lang="en-US" smtClean="0"/>
              <a:t>‹#›</a:t>
            </a:fld>
            <a:endParaRPr lang="en-US"/>
          </a:p>
        </p:txBody>
      </p:sp>
    </p:spTree>
    <p:extLst>
      <p:ext uri="{BB962C8B-B14F-4D97-AF65-F5344CB8AC3E}">
        <p14:creationId xmlns:p14="http://schemas.microsoft.com/office/powerpoint/2010/main" val="39582264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EFF5E7-2783-E20E-A960-CC87566C59F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778867-E3FF-E7DE-E51E-CE65AB96416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BBD98F-789F-1D02-F356-26B4E66886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C3923BB-D199-9447-A234-2032C10987B0}" type="datetimeFigureOut">
              <a:rPr lang="en-US" smtClean="0"/>
              <a:t>3/21/26</a:t>
            </a:fld>
            <a:endParaRPr lang="en-US"/>
          </a:p>
        </p:txBody>
      </p:sp>
      <p:sp>
        <p:nvSpPr>
          <p:cNvPr id="5" name="Footer Placeholder 4">
            <a:extLst>
              <a:ext uri="{FF2B5EF4-FFF2-40B4-BE49-F238E27FC236}">
                <a16:creationId xmlns:a16="http://schemas.microsoft.com/office/drawing/2014/main" id="{3624F46E-B3FF-3A9D-1F91-92E7636179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04BA9D6-CE03-6F47-7776-1208BF8855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473094F-1246-CC42-8A83-F4C6FF3F8758}" type="slidenum">
              <a:rPr lang="en-US" smtClean="0"/>
              <a:t>‹#›</a:t>
            </a:fld>
            <a:endParaRPr lang="en-US"/>
          </a:p>
        </p:txBody>
      </p:sp>
    </p:spTree>
    <p:extLst>
      <p:ext uri="{BB962C8B-B14F-4D97-AF65-F5344CB8AC3E}">
        <p14:creationId xmlns:p14="http://schemas.microsoft.com/office/powerpoint/2010/main" val="29247531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graph&#10;&#10;AI-generated content may be incorrect.">
            <a:extLst>
              <a:ext uri="{FF2B5EF4-FFF2-40B4-BE49-F238E27FC236}">
                <a16:creationId xmlns:a16="http://schemas.microsoft.com/office/drawing/2014/main" id="{1F897065-7CE5-0AAB-ABC8-429B52966E11}"/>
              </a:ext>
            </a:extLst>
          </p:cNvPr>
          <p:cNvPicPr>
            <a:picLocks noChangeAspect="1"/>
          </p:cNvPicPr>
          <p:nvPr/>
        </p:nvPicPr>
        <p:blipFill>
          <a:blip r:embed="rId3"/>
          <a:stretch>
            <a:fillRect/>
          </a:stretch>
        </p:blipFill>
        <p:spPr>
          <a:xfrm>
            <a:off x="1930489" y="0"/>
            <a:ext cx="7772400" cy="6398149"/>
          </a:xfrm>
          <a:prstGeom prst="rect">
            <a:avLst/>
          </a:prstGeom>
        </p:spPr>
      </p:pic>
    </p:spTree>
    <p:extLst>
      <p:ext uri="{BB962C8B-B14F-4D97-AF65-F5344CB8AC3E}">
        <p14:creationId xmlns:p14="http://schemas.microsoft.com/office/powerpoint/2010/main" val="3246162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a graph&#10;&#10;AI-generated content may be incorrect.">
            <a:extLst>
              <a:ext uri="{FF2B5EF4-FFF2-40B4-BE49-F238E27FC236}">
                <a16:creationId xmlns:a16="http://schemas.microsoft.com/office/drawing/2014/main" id="{10719066-A5E9-67A4-F95B-3B4D3E34E678}"/>
              </a:ext>
            </a:extLst>
          </p:cNvPr>
          <p:cNvPicPr>
            <a:picLocks noChangeAspect="1"/>
          </p:cNvPicPr>
          <p:nvPr/>
        </p:nvPicPr>
        <p:blipFill>
          <a:blip r:embed="rId3"/>
          <a:stretch>
            <a:fillRect/>
          </a:stretch>
        </p:blipFill>
        <p:spPr>
          <a:xfrm>
            <a:off x="2015007" y="0"/>
            <a:ext cx="7772400" cy="6530655"/>
          </a:xfrm>
          <a:prstGeom prst="rect">
            <a:avLst/>
          </a:prstGeom>
        </p:spPr>
      </p:pic>
    </p:spTree>
    <p:extLst>
      <p:ext uri="{BB962C8B-B14F-4D97-AF65-F5344CB8AC3E}">
        <p14:creationId xmlns:p14="http://schemas.microsoft.com/office/powerpoint/2010/main" val="41140624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showing the temperature of oil&#10;&#10;AI-generated content may be incorrect.">
            <a:extLst>
              <a:ext uri="{FF2B5EF4-FFF2-40B4-BE49-F238E27FC236}">
                <a16:creationId xmlns:a16="http://schemas.microsoft.com/office/drawing/2014/main" id="{3EB3EEDB-AC6A-51D3-4F1C-409D7BCA71E6}"/>
              </a:ext>
            </a:extLst>
          </p:cNvPr>
          <p:cNvPicPr>
            <a:picLocks noChangeAspect="1"/>
          </p:cNvPicPr>
          <p:nvPr/>
        </p:nvPicPr>
        <p:blipFill>
          <a:blip r:embed="rId3"/>
          <a:stretch>
            <a:fillRect/>
          </a:stretch>
        </p:blipFill>
        <p:spPr>
          <a:xfrm>
            <a:off x="0" y="1425459"/>
            <a:ext cx="7772400" cy="2554514"/>
          </a:xfrm>
          <a:prstGeom prst="rect">
            <a:avLst/>
          </a:prstGeom>
        </p:spPr>
      </p:pic>
    </p:spTree>
    <p:extLst>
      <p:ext uri="{BB962C8B-B14F-4D97-AF65-F5344CB8AC3E}">
        <p14:creationId xmlns:p14="http://schemas.microsoft.com/office/powerpoint/2010/main" val="9186237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oil temperature&#10;&#10;AI-generated content may be incorrect.">
            <a:extLst>
              <a:ext uri="{FF2B5EF4-FFF2-40B4-BE49-F238E27FC236}">
                <a16:creationId xmlns:a16="http://schemas.microsoft.com/office/drawing/2014/main" id="{FA8C515C-ECFB-77D1-FB51-8283D98049FC}"/>
              </a:ext>
            </a:extLst>
          </p:cNvPr>
          <p:cNvPicPr>
            <a:picLocks noChangeAspect="1"/>
          </p:cNvPicPr>
          <p:nvPr/>
        </p:nvPicPr>
        <p:blipFill>
          <a:blip r:embed="rId3"/>
          <a:stretch>
            <a:fillRect/>
          </a:stretch>
        </p:blipFill>
        <p:spPr>
          <a:xfrm>
            <a:off x="1311419" y="901148"/>
            <a:ext cx="7772400" cy="4622799"/>
          </a:xfrm>
          <a:prstGeom prst="rect">
            <a:avLst/>
          </a:prstGeom>
        </p:spPr>
      </p:pic>
    </p:spTree>
    <p:extLst>
      <p:ext uri="{BB962C8B-B14F-4D97-AF65-F5344CB8AC3E}">
        <p14:creationId xmlns:p14="http://schemas.microsoft.com/office/powerpoint/2010/main" val="7211658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different colors&#10;&#10;AI-generated content may be incorrect.">
            <a:extLst>
              <a:ext uri="{FF2B5EF4-FFF2-40B4-BE49-F238E27FC236}">
                <a16:creationId xmlns:a16="http://schemas.microsoft.com/office/drawing/2014/main" id="{35CC4C35-0016-D939-2709-7A58A17A3DA0}"/>
              </a:ext>
            </a:extLst>
          </p:cNvPr>
          <p:cNvPicPr>
            <a:picLocks noChangeAspect="1"/>
          </p:cNvPicPr>
          <p:nvPr/>
        </p:nvPicPr>
        <p:blipFill>
          <a:blip r:embed="rId3"/>
          <a:stretch>
            <a:fillRect/>
          </a:stretch>
        </p:blipFill>
        <p:spPr>
          <a:xfrm>
            <a:off x="2451652" y="1192212"/>
            <a:ext cx="7772400" cy="3848799"/>
          </a:xfrm>
          <a:prstGeom prst="rect">
            <a:avLst/>
          </a:prstGeom>
        </p:spPr>
      </p:pic>
    </p:spTree>
    <p:extLst>
      <p:ext uri="{BB962C8B-B14F-4D97-AF65-F5344CB8AC3E}">
        <p14:creationId xmlns:p14="http://schemas.microsoft.com/office/powerpoint/2010/main" val="2931385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different colored lines&#10;&#10;AI-generated content may be incorrect.">
            <a:extLst>
              <a:ext uri="{FF2B5EF4-FFF2-40B4-BE49-F238E27FC236}">
                <a16:creationId xmlns:a16="http://schemas.microsoft.com/office/drawing/2014/main" id="{943D6AB9-059B-E14E-4975-2D455A0EACBA}"/>
              </a:ext>
            </a:extLst>
          </p:cNvPr>
          <p:cNvPicPr>
            <a:picLocks noChangeAspect="1"/>
          </p:cNvPicPr>
          <p:nvPr/>
        </p:nvPicPr>
        <p:blipFill>
          <a:blip r:embed="rId3"/>
          <a:stretch>
            <a:fillRect/>
          </a:stretch>
        </p:blipFill>
        <p:spPr>
          <a:xfrm>
            <a:off x="2628181" y="0"/>
            <a:ext cx="6935638" cy="6858000"/>
          </a:xfrm>
          <a:prstGeom prst="rect">
            <a:avLst/>
          </a:prstGeom>
        </p:spPr>
      </p:pic>
    </p:spTree>
    <p:extLst>
      <p:ext uri="{BB962C8B-B14F-4D97-AF65-F5344CB8AC3E}">
        <p14:creationId xmlns:p14="http://schemas.microsoft.com/office/powerpoint/2010/main" val="21914054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8340D0-8760-AE9D-1F7C-AC57F9BF19B3}"/>
              </a:ext>
            </a:extLst>
          </p:cNvPr>
          <p:cNvSpPr txBox="1"/>
          <p:nvPr/>
        </p:nvSpPr>
        <p:spPr>
          <a:xfrm>
            <a:off x="3582106" y="3244334"/>
            <a:ext cx="5027787" cy="369332"/>
          </a:xfrm>
          <a:prstGeom prst="rect">
            <a:avLst/>
          </a:prstGeom>
          <a:noFill/>
        </p:spPr>
        <p:txBody>
          <a:bodyPr wrap="none" rtlCol="0">
            <a:spAutoFit/>
          </a:bodyPr>
          <a:lstStyle/>
          <a:p>
            <a:r>
              <a:rPr lang="en-US" dirty="0"/>
              <a:t>NORMAL VS ANOMALY PERIODS WITHIN FARM A</a:t>
            </a:r>
          </a:p>
        </p:txBody>
      </p:sp>
    </p:spTree>
    <p:extLst>
      <p:ext uri="{BB962C8B-B14F-4D97-AF65-F5344CB8AC3E}">
        <p14:creationId xmlns:p14="http://schemas.microsoft.com/office/powerpoint/2010/main" val="1869194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of different colored lines&#10;&#10;AI-generated content may be incorrect.">
            <a:extLst>
              <a:ext uri="{FF2B5EF4-FFF2-40B4-BE49-F238E27FC236}">
                <a16:creationId xmlns:a16="http://schemas.microsoft.com/office/drawing/2014/main" id="{D4FA6827-2813-E1CC-0077-D2B2555C983C}"/>
              </a:ext>
            </a:extLst>
          </p:cNvPr>
          <p:cNvPicPr>
            <a:picLocks noChangeAspect="1"/>
          </p:cNvPicPr>
          <p:nvPr/>
        </p:nvPicPr>
        <p:blipFill>
          <a:blip r:embed="rId3"/>
          <a:stretch>
            <a:fillRect/>
          </a:stretch>
        </p:blipFill>
        <p:spPr>
          <a:xfrm>
            <a:off x="2099853" y="94343"/>
            <a:ext cx="7772400" cy="6669314"/>
          </a:xfrm>
          <a:prstGeom prst="rect">
            <a:avLst/>
          </a:prstGeom>
        </p:spPr>
      </p:pic>
    </p:spTree>
    <p:extLst>
      <p:ext uri="{BB962C8B-B14F-4D97-AF65-F5344CB8AC3E}">
        <p14:creationId xmlns:p14="http://schemas.microsoft.com/office/powerpoint/2010/main" val="3212780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and chart with numbers&#10;&#10;AI-generated content may be incorrect.">
            <a:extLst>
              <a:ext uri="{FF2B5EF4-FFF2-40B4-BE49-F238E27FC236}">
                <a16:creationId xmlns:a16="http://schemas.microsoft.com/office/drawing/2014/main" id="{6E2C4E3C-98C2-E8E4-FB20-00EF86C2AC92}"/>
              </a:ext>
            </a:extLst>
          </p:cNvPr>
          <p:cNvPicPr>
            <a:picLocks noChangeAspect="1"/>
          </p:cNvPicPr>
          <p:nvPr/>
        </p:nvPicPr>
        <p:blipFill>
          <a:blip r:embed="rId3"/>
          <a:stretch>
            <a:fillRect/>
          </a:stretch>
        </p:blipFill>
        <p:spPr>
          <a:xfrm>
            <a:off x="2209800" y="1980600"/>
            <a:ext cx="7772400" cy="2896800"/>
          </a:xfrm>
          <a:prstGeom prst="rect">
            <a:avLst/>
          </a:prstGeom>
        </p:spPr>
      </p:pic>
    </p:spTree>
    <p:extLst>
      <p:ext uri="{BB962C8B-B14F-4D97-AF65-F5344CB8AC3E}">
        <p14:creationId xmlns:p14="http://schemas.microsoft.com/office/powerpoint/2010/main" val="9261987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graph with a red line&#10;&#10;AI-generated content may be incorrect.">
            <a:extLst>
              <a:ext uri="{FF2B5EF4-FFF2-40B4-BE49-F238E27FC236}">
                <a16:creationId xmlns:a16="http://schemas.microsoft.com/office/drawing/2014/main" id="{A5ED7E41-FFDB-7250-BD1B-AE07C3D3E2F4}"/>
              </a:ext>
            </a:extLst>
          </p:cNvPr>
          <p:cNvPicPr>
            <a:picLocks noChangeAspect="1"/>
          </p:cNvPicPr>
          <p:nvPr/>
        </p:nvPicPr>
        <p:blipFill>
          <a:blip r:embed="rId3"/>
          <a:stretch>
            <a:fillRect/>
          </a:stretch>
        </p:blipFill>
        <p:spPr>
          <a:xfrm>
            <a:off x="2209800" y="2113500"/>
            <a:ext cx="7772400" cy="2414000"/>
          </a:xfrm>
          <a:prstGeom prst="rect">
            <a:avLst/>
          </a:prstGeom>
        </p:spPr>
      </p:pic>
    </p:spTree>
    <p:extLst>
      <p:ext uri="{BB962C8B-B14F-4D97-AF65-F5344CB8AC3E}">
        <p14:creationId xmlns:p14="http://schemas.microsoft.com/office/powerpoint/2010/main" val="22646845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1416</TotalTime>
  <Words>1367</Words>
  <Application>Microsoft Macintosh PowerPoint</Application>
  <PresentationFormat>Widescreen</PresentationFormat>
  <Paragraphs>28</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Prabhasees RAINA</dc:creator>
  <cp:lastModifiedBy>Prabhasees RAINA</cp:lastModifiedBy>
  <cp:revision>4</cp:revision>
  <dcterms:created xsi:type="dcterms:W3CDTF">2026-03-20T17:48:15Z</dcterms:created>
  <dcterms:modified xsi:type="dcterms:W3CDTF">2026-03-21T19:33:39Z</dcterms:modified>
</cp:coreProperties>
</file>